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5DAA9-6BC3-4AEB-A892-2B3785856564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9F025-2112-40DD-987B-5FAF90CEE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102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09F025-2112-40DD-987B-5FAF90CEE43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0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17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32520" y="4160520"/>
            <a:ext cx="256032" cy="118872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62872" y="3520439"/>
            <a:ext cx="256032" cy="1828800"/>
          </a:xfrm>
          <a:prstGeom prst="roundRect">
            <a:avLst/>
          </a:prstGeom>
          <a:solidFill>
            <a:srgbClr val="52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93224" y="4343400"/>
            <a:ext cx="256032" cy="1005840"/>
          </a:xfrm>
          <a:prstGeom prst="round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23576" y="2788920"/>
            <a:ext cx="256032" cy="256032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53928" y="3703320"/>
            <a:ext cx="256032" cy="1645920"/>
          </a:xfrm>
          <a:prstGeom prst="roundRect">
            <a:avLst/>
          </a:prstGeom>
          <a:solidFill>
            <a:srgbClr val="52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7040880" cy="11203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400" b="1">
                <a:solidFill>
                  <a:srgbClr val="F2F5F9"/>
                </a:solidFill>
                <a:latin typeface="Aptos"/>
              </a:defRPr>
            </a:pPr>
            <a:r>
              <a:rPr dirty="0"/>
              <a:t>Financial Risk</a:t>
            </a:r>
            <a:r>
              <a:rPr lang="en-IN" dirty="0"/>
              <a:t> </a:t>
            </a:r>
          </a:p>
          <a:p>
            <a:pPr>
              <a:defRPr sz="3400" b="1">
                <a:solidFill>
                  <a:srgbClr val="F2F5F9"/>
                </a:solidFill>
                <a:latin typeface="Aptos"/>
              </a:defRPr>
            </a:pPr>
            <a:r>
              <a:rPr dirty="0"/>
              <a:t>Analysis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63240"/>
            <a:ext cx="68580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600" b="0">
                <a:solidFill>
                  <a:srgbClr val="A4AEBB"/>
                </a:solidFill>
                <a:latin typeface="Aptos"/>
              </a:defRPr>
            </a:pPr>
            <a:r>
              <a:rPr dirty="0"/>
              <a:t>Loan Portfolio • Credit Risk • Defaults • Financial Impact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858768"/>
            <a:ext cx="6492240" cy="0"/>
          </a:xfrm>
          <a:prstGeom prst="line">
            <a:avLst/>
          </a:prstGeom>
          <a:ln w="1778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160520"/>
            <a:ext cx="61264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rPr dirty="0"/>
              <a:t>An end-to-end analytics project using SQL and Power BI to explore loan portfolio risk.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PostgreSQL  |  SQL  |  Power Query  |  DAX  | 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005840"/>
            <a:ext cx="31089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A4AEBB"/>
                </a:solidFill>
                <a:latin typeface="Aptos"/>
              </a:defRPr>
            </a:pPr>
            <a:r>
              <a:t>RISK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463040"/>
            <a:ext cx="30175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3100" b="1">
                <a:solidFill>
                  <a:srgbClr val="F2F5F9"/>
                </a:solidFill>
                <a:latin typeface="Aptos"/>
              </a:defRPr>
            </a:pPr>
            <a:r>
              <a:t>10,020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05740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0">
                <a:solidFill>
                  <a:srgbClr val="A4AEBB"/>
                </a:solidFill>
                <a:latin typeface="Aptos"/>
              </a:defRPr>
            </a:pPr>
            <a:r>
              <a:t>loan records analyzed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2788920"/>
            <a:ext cx="2971800" cy="603504"/>
          </a:xfrm>
          <a:prstGeom prst="roundRect">
            <a:avLst/>
          </a:prstGeom>
          <a:solidFill>
            <a:srgbClr val="0A0C10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49640" y="2788920"/>
            <a:ext cx="54864" cy="603504"/>
          </a:xfrm>
          <a:prstGeom prst="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2871215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Portfolio exposure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5560" y="2862072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500" b="1">
                <a:solidFill>
                  <a:srgbClr val="F2F5F9"/>
                </a:solidFill>
                <a:latin typeface="Aptos"/>
              </a:defRPr>
            </a:pPr>
            <a:r>
              <a:t>$668.4M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49640" y="3566160"/>
            <a:ext cx="2971800" cy="603504"/>
          </a:xfrm>
          <a:prstGeom prst="roundRect">
            <a:avLst/>
          </a:prstGeom>
          <a:solidFill>
            <a:srgbClr val="0A0C10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49640" y="3566160"/>
            <a:ext cx="54864" cy="603504"/>
          </a:xfrm>
          <a:prstGeom prst="rect">
            <a:avLst/>
          </a:prstGeom>
          <a:solidFill>
            <a:srgbClr val="52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32520" y="3648456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Outstanding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3639312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500" b="1">
                <a:solidFill>
                  <a:srgbClr val="F2F5F9"/>
                </a:solidFill>
                <a:latin typeface="Aptos"/>
              </a:defRPr>
            </a:pPr>
            <a:r>
              <a:t>$319.2M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343400"/>
            <a:ext cx="2971800" cy="603504"/>
          </a:xfrm>
          <a:prstGeom prst="roundRect">
            <a:avLst/>
          </a:prstGeom>
          <a:solidFill>
            <a:srgbClr val="0A0C10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49640" y="4343400"/>
            <a:ext cx="54864" cy="603504"/>
          </a:xfrm>
          <a:prstGeom prst="rect">
            <a:avLst/>
          </a:prstGeom>
          <a:solidFill>
            <a:srgbClr val="FFB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32520" y="4425696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Default loans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416552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500" b="1">
                <a:solidFill>
                  <a:srgbClr val="F2F5F9"/>
                </a:solidFill>
                <a:latin typeface="Aptos"/>
              </a:defRPr>
            </a:pPr>
            <a:r>
              <a:t>710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Business problem &amp; 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828800"/>
            <a:ext cx="3657600" cy="406908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3017520" cy="2011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200" b="1">
                <a:solidFill>
                  <a:srgbClr val="F2F5F9"/>
                </a:solidFill>
                <a:latin typeface="Aptos"/>
              </a:defRPr>
            </a:pPr>
            <a:r>
              <a:t>Lenders need a clear view of exposure, repayment risk, defaults and potential recovery shortfalls.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74519"/>
            <a:ext cx="6309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404872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6355080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t>Measure total loan exposure and outstanding balances.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935224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862072"/>
            <a:ext cx="6355080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t>Identify default and delinquency patterns.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465576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3392424"/>
            <a:ext cx="6355080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t>Compare risk across borrower profiles and risk grades.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995927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60" y="3922775"/>
            <a:ext cx="6355080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t>Analyze default exposure by state and loan type.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9160" y="4526279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4453127"/>
            <a:ext cx="6355080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t>Evaluate collateral coverage and possible shortfalls.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5056631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60" y="4983479"/>
            <a:ext cx="6355080" cy="4937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500" b="0">
                <a:solidFill>
                  <a:srgbClr val="F2F5F9"/>
                </a:solidFill>
                <a:latin typeface="Aptos"/>
              </a:defRPr>
            </a:pPr>
            <a:r>
              <a:t>Support consistent risk monitoring through interactive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Dataset &amp; technology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828800"/>
            <a:ext cx="2606040" cy="9601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4AEBB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F2F5F9"/>
                </a:solidFill>
                <a:latin typeface="Aptos"/>
              </a:defRPr>
            </a:pPr>
            <a:r>
              <a:t>10,020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828800"/>
            <a:ext cx="2606040" cy="9601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993392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4AEBB"/>
                </a:solidFill>
                <a:latin typeface="Aptos"/>
              </a:defRPr>
            </a:pPr>
            <a:r>
              <a:t>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F2F5F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828800"/>
            <a:ext cx="2606040" cy="9601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993392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4AEBB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8600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F2F5F9"/>
                </a:solidFill>
                <a:latin typeface="Aptos"/>
              </a:defRPr>
            </a:pPr>
            <a:r>
              <a:t>USA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53144" y="1828800"/>
            <a:ext cx="2606040" cy="9601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17736" y="1993392"/>
            <a:ext cx="2194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1">
                <a:solidFill>
                  <a:srgbClr val="A4AEBB"/>
                </a:solidFill>
                <a:latin typeface="Aptos"/>
              </a:defRPr>
            </a:pPr>
            <a:r>
              <a:t>DATA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228600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900" b="1">
                <a:solidFill>
                  <a:srgbClr val="F2F5F9"/>
                </a:solidFill>
                <a:latin typeface="Aptos"/>
              </a:defRPr>
            </a:pPr>
            <a:r>
              <a:t>Loan portfolio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154680"/>
            <a:ext cx="6537960" cy="251460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rPr dirty="0"/>
              <a:t>KEY DATA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03320"/>
            <a:ext cx="6004068" cy="182819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Loan Identification &amp; Location: Loan ID • Loan Date • State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Loan Details: Loan Type • Loan Purpose • Loan Amount • Loan Term (Months)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Borrower Profile: Annual Income • Credit Score • Debt-to-Income Ratio • Employment Status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Credit Risk &amp; Repayment: Interest Rate • Risk Grade • Loan Status • Payments Missed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Financial Exposure: Outstanding Balance • Collateral Value • Estimated Interest</a:t>
            </a:r>
          </a:p>
          <a:p>
            <a:pPr>
              <a:defRPr sz="1600" b="0">
                <a:solidFill>
                  <a:srgbClr val="F2F5F9"/>
                </a:solidFill>
                <a:latin typeface="Aptos"/>
              </a:defRPr>
            </a:pP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406640" y="3154680"/>
            <a:ext cx="4160520" cy="251460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3429000"/>
            <a:ext cx="3566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840480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840480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Data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169664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5299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169664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Extraction &amp;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498848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FFB04D"/>
                </a:solidFill>
                <a:latin typeface="Aptos"/>
              </a:defRPr>
            </a:pPr>
            <a:r>
              <a:t>Power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498848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828032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6FDA97"/>
                </a:solidFill>
                <a:latin typeface="Aptos"/>
              </a:defRPr>
            </a:pPr>
            <a:r>
              <a:t>DAX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828032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KPI calculations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5157216"/>
            <a:ext cx="1234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157216"/>
            <a:ext cx="21488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Interactive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Project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34640"/>
            <a:ext cx="11430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rPr dirty="0"/>
              <a:t>Data</a:t>
            </a:r>
            <a:r>
              <a:rPr lang="en-IN" dirty="0"/>
              <a:t> </a:t>
            </a:r>
            <a:r>
              <a:rPr dirty="0"/>
              <a:t>collection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3044952"/>
            <a:ext cx="210312" cy="0"/>
          </a:xfrm>
          <a:prstGeom prst="line">
            <a:avLst/>
          </a:prstGeom>
          <a:ln w="19050">
            <a:solidFill>
              <a:srgbClr val="A4A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67128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13432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5299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2834640"/>
            <a:ext cx="1362456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rPr lang="en-IN" sz="1300" b="1" dirty="0">
                <a:solidFill>
                  <a:srgbClr val="F2F5F9"/>
                </a:solidFill>
                <a:latin typeface="Aptos"/>
              </a:rPr>
              <a:t>Clean &amp; validate</a:t>
            </a:r>
            <a:endParaRPr dirty="0"/>
          </a:p>
        </p:txBody>
      </p:sp>
      <p:cxnSp>
        <p:nvCxnSpPr>
          <p:cNvPr id="14" name="Connector 13"/>
          <p:cNvCxnSpPr/>
          <p:nvPr/>
        </p:nvCxnSpPr>
        <p:spPr>
          <a:xfrm>
            <a:off x="3584448" y="3044952"/>
            <a:ext cx="210312" cy="0"/>
          </a:xfrm>
          <a:prstGeom prst="line">
            <a:avLst/>
          </a:prstGeom>
          <a:ln w="19050">
            <a:solidFill>
              <a:srgbClr val="A4A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31336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77640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FFB04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834640"/>
            <a:ext cx="11430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rPr dirty="0"/>
              <a:t>PostgreSQL</a:t>
            </a:r>
            <a:r>
              <a:rPr lang="en-IN" dirty="0"/>
              <a:t> </a:t>
            </a:r>
            <a:r>
              <a:rPr dirty="0"/>
              <a:t>&amp; SQL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48656" y="3044952"/>
            <a:ext cx="210312" cy="0"/>
          </a:xfrm>
          <a:prstGeom prst="line">
            <a:avLst/>
          </a:prstGeom>
          <a:ln w="19050">
            <a:solidFill>
              <a:srgbClr val="A4A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95544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41848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6FDA9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2834640"/>
            <a:ext cx="11430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rPr dirty="0"/>
              <a:t>Power Query</a:t>
            </a:r>
            <a:r>
              <a:rPr lang="en-IN" dirty="0"/>
              <a:t> </a:t>
            </a:r>
            <a:r>
              <a:rPr dirty="0"/>
              <a:t>&amp; model</a:t>
            </a:r>
            <a:r>
              <a:rPr lang="en-IN" dirty="0"/>
              <a:t>ling</a:t>
            </a:r>
            <a:endParaRPr dirty="0"/>
          </a:p>
        </p:txBody>
      </p:sp>
      <p:cxnSp>
        <p:nvCxnSpPr>
          <p:cNvPr id="22" name="Connector 21"/>
          <p:cNvCxnSpPr/>
          <p:nvPr/>
        </p:nvCxnSpPr>
        <p:spPr>
          <a:xfrm>
            <a:off x="6912864" y="3044952"/>
            <a:ext cx="210312" cy="0"/>
          </a:xfrm>
          <a:prstGeom prst="line">
            <a:avLst/>
          </a:prstGeom>
          <a:ln w="19050">
            <a:solidFill>
              <a:srgbClr val="A4A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59752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06056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6056" y="2834640"/>
            <a:ext cx="1143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DAX KPIs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577072" y="3044952"/>
            <a:ext cx="210312" cy="0"/>
          </a:xfrm>
          <a:prstGeom prst="line">
            <a:avLst/>
          </a:prstGeom>
          <a:ln w="19050">
            <a:solidFill>
              <a:srgbClr val="A4A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823960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70264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5299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0264" y="2834640"/>
            <a:ext cx="11430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rPr dirty="0"/>
              <a:t>Power BI</a:t>
            </a:r>
            <a:r>
              <a:rPr lang="en-IN" dirty="0"/>
              <a:t> &amp; </a:t>
            </a:r>
            <a:r>
              <a:rPr dirty="0"/>
              <a:t>dashboards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241280" y="3044952"/>
            <a:ext cx="210312" cy="0"/>
          </a:xfrm>
          <a:prstGeom prst="line">
            <a:avLst/>
          </a:prstGeom>
          <a:ln w="19050">
            <a:solidFill>
              <a:srgbClr val="A4AE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488168" y="2331720"/>
            <a:ext cx="1417320" cy="14173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34472" y="24871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FFB04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4472" y="2834640"/>
            <a:ext cx="1143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rPr dirty="0"/>
              <a:t>Insights &amp;</a:t>
            </a:r>
            <a:r>
              <a:rPr lang="en-IN" dirty="0"/>
              <a:t> </a:t>
            </a:r>
            <a:r>
              <a:rPr dirty="0"/>
              <a:t>recommendations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343400"/>
            <a:ext cx="10927080" cy="105156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55371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1">
                <a:solidFill>
                  <a:srgbClr val="35D3BE"/>
                </a:solidFill>
                <a:latin typeface="Aptos"/>
              </a:defRPr>
            </a:pPr>
            <a:r>
              <a:t>VALIDATION CHECKS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507992"/>
            <a:ext cx="84124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2F5F9"/>
                </a:solidFill>
                <a:latin typeface="Aptos"/>
              </a:defRPr>
            </a:pPr>
            <a:r>
              <a:t>Record count • Duplicate checks • Missing values • Numeric/date formats • Field consistency • KPI reconciliation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SQL analysis &amp; data validation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828800"/>
            <a:ext cx="6537960" cy="361188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EXAMPLE: PORTFOLIO EXPOSURE BY LOAN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5897880" cy="17974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SELECT</a:t>
            </a:r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    </a:t>
            </a:r>
            <a:r>
              <a:rPr lang="en-US" dirty="0" err="1"/>
              <a:t>loan_status</a:t>
            </a:r>
            <a:r>
              <a:rPr lang="en-US" dirty="0"/>
              <a:t>,</a:t>
            </a:r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    COUNT(*) AS </a:t>
            </a:r>
            <a:r>
              <a:rPr lang="en-US" dirty="0" err="1"/>
              <a:t>loan_count</a:t>
            </a:r>
            <a:r>
              <a:rPr lang="en-US" dirty="0"/>
              <a:t>,</a:t>
            </a:r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    SUM(</a:t>
            </a:r>
            <a:r>
              <a:rPr lang="en-US" dirty="0" err="1"/>
              <a:t>loan_amount</a:t>
            </a:r>
            <a:r>
              <a:rPr lang="en-US" dirty="0"/>
              <a:t>) AS </a:t>
            </a:r>
            <a:r>
              <a:rPr lang="en-US" dirty="0" err="1"/>
              <a:t>total_loan_amount</a:t>
            </a:r>
            <a:r>
              <a:rPr lang="en-US" dirty="0"/>
              <a:t>,</a:t>
            </a:r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    SUM(</a:t>
            </a:r>
            <a:r>
              <a:rPr lang="en-US" dirty="0" err="1"/>
              <a:t>outstanding_balance</a:t>
            </a:r>
            <a:r>
              <a:rPr lang="en-US" dirty="0"/>
              <a:t>) AS </a:t>
            </a:r>
            <a:r>
              <a:rPr lang="en-US" dirty="0" err="1"/>
              <a:t>outstanding_balance</a:t>
            </a:r>
            <a:endParaRPr lang="en-US" dirty="0"/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FROM </a:t>
            </a:r>
            <a:r>
              <a:rPr lang="en-US" dirty="0" err="1"/>
              <a:t>finacial_risk</a:t>
            </a:r>
            <a:endParaRPr lang="en-US" dirty="0"/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GROUP BY </a:t>
            </a:r>
            <a:r>
              <a:rPr lang="en-US" dirty="0" err="1"/>
              <a:t>loan_status</a:t>
            </a:r>
            <a:endParaRPr lang="en-US" dirty="0"/>
          </a:p>
          <a:p>
            <a:pPr>
              <a:defRPr sz="1400" b="0">
                <a:solidFill>
                  <a:srgbClr val="F2F5F9"/>
                </a:solidFill>
                <a:latin typeface="Consolas"/>
              </a:defRPr>
            </a:pPr>
            <a:r>
              <a:rPr lang="en-US" dirty="0"/>
              <a:t>ORDER BY </a:t>
            </a:r>
            <a:r>
              <a:rPr lang="en-US" dirty="0" err="1"/>
              <a:t>outstanding_balance</a:t>
            </a:r>
            <a:r>
              <a:rPr lang="en-US" dirty="0"/>
              <a:t> DESC;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4114800" cy="361188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210312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100" b="1">
                <a:solidFill>
                  <a:srgbClr val="35D3BE"/>
                </a:solidFill>
                <a:latin typeface="Aptos"/>
              </a:defRPr>
            </a:pPr>
            <a:r>
              <a:t>VALIDATION CHECKLIST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679192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2606040"/>
            <a:ext cx="3246120" cy="48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Confirm row count = 10,020.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200400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3127248"/>
            <a:ext cx="3246120" cy="48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Check duplicate loan IDs.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721608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3648456"/>
            <a:ext cx="3246120" cy="48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Check nulls in key fields.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4242816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4169664"/>
            <a:ext cx="3246120" cy="48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Validate dates and numeric types.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764024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4690872"/>
            <a:ext cx="3246120" cy="4846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Reconcile SQL totals to Power 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Key business insights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828800"/>
            <a:ext cx="5303520" cy="1024128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965960"/>
            <a:ext cx="4251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Portfolio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267712"/>
            <a:ext cx="4251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10,020 loan records represent $668.4M in total loan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1024128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993392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5299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1965960"/>
            <a:ext cx="4251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Outstanding 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2267712"/>
            <a:ext cx="4251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$319.2M remains outstanding and is an important monitoring measure.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90672"/>
            <a:ext cx="5303520" cy="1024128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" y="3255264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F64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227832"/>
            <a:ext cx="4251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Default population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529584"/>
            <a:ext cx="4251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710 loans are classified as default, approximately 7% of the portfolio.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90672"/>
            <a:ext cx="5303520" cy="1024128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255264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FFB04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227832"/>
            <a:ext cx="4251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Risk is not uniform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3529584"/>
            <a:ext cx="4251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Default exposure can be compared across risk grades, states and loan types.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352544"/>
            <a:ext cx="5303520" cy="1024128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517136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6FDA9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4168" y="4489704"/>
            <a:ext cx="4251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Borrower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791456"/>
            <a:ext cx="4251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Credit score, DTI and missed payments provide useful risk segmentation variables.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52544"/>
            <a:ext cx="5303520" cy="1024128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2512" y="4517136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489704"/>
            <a:ext cx="4251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Recovery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7728" y="4791456"/>
            <a:ext cx="42519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000" b="0">
                <a:solidFill>
                  <a:srgbClr val="A4AEBB"/>
                </a:solidFill>
                <a:latin typeface="Aptos"/>
              </a:defRPr>
            </a:pPr>
            <a:r>
              <a:t>Outstanding balances above collateral values may indicate potential recovery shortfalls.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Business recommendations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28800"/>
            <a:ext cx="475488" cy="438912"/>
          </a:xfrm>
          <a:prstGeom prst="roundRect">
            <a:avLst/>
          </a:prstGeom>
          <a:solidFill>
            <a:srgbClr val="1E232B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920240"/>
            <a:ext cx="3474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35D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56231"/>
            <a:ext cx="2468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Strengthen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856231"/>
            <a:ext cx="7040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4AEBB"/>
                </a:solidFill>
                <a:latin typeface="Aptos"/>
              </a:defRPr>
            </a:pPr>
            <a:r>
              <a:t>Track credit score, DTI, risk grade and missed payments.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20" y="2340864"/>
            <a:ext cx="9555480" cy="0"/>
          </a:xfrm>
          <a:prstGeom prst="line">
            <a:avLst/>
          </a:prstGeom>
          <a:ln w="889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2450592"/>
            <a:ext cx="475488" cy="438912"/>
          </a:xfrm>
          <a:prstGeom prst="roundRect">
            <a:avLst/>
          </a:prstGeom>
          <a:solidFill>
            <a:srgbClr val="1E232B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542032"/>
            <a:ext cx="3474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35D3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78024"/>
            <a:ext cx="2468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Build early warnings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478024"/>
            <a:ext cx="7040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4AEBB"/>
                </a:solidFill>
                <a:latin typeface="Aptos"/>
              </a:defRPr>
            </a:pPr>
            <a:r>
              <a:t>Flag borrowers with worsening repayment indicators.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17320" y="2962656"/>
            <a:ext cx="9555480" cy="0"/>
          </a:xfrm>
          <a:prstGeom prst="line">
            <a:avLst/>
          </a:prstGeom>
          <a:ln w="889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3072384"/>
            <a:ext cx="475488" cy="438912"/>
          </a:xfrm>
          <a:prstGeom prst="roundRect">
            <a:avLst/>
          </a:prstGeom>
          <a:solidFill>
            <a:srgbClr val="1E232B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163824"/>
            <a:ext cx="3474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35D3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99816"/>
            <a:ext cx="2468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Investigate 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099816"/>
            <a:ext cx="7040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4AEBB"/>
                </a:solidFill>
                <a:latin typeface="Aptos"/>
              </a:defRPr>
            </a:pPr>
            <a:r>
              <a:t>Review states, loan types and grades with higher default exposure.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3584448"/>
            <a:ext cx="9555480" cy="0"/>
          </a:xfrm>
          <a:prstGeom prst="line">
            <a:avLst/>
          </a:prstGeom>
          <a:ln w="889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694176"/>
            <a:ext cx="475488" cy="438912"/>
          </a:xfrm>
          <a:prstGeom prst="roundRect">
            <a:avLst/>
          </a:prstGeom>
          <a:solidFill>
            <a:srgbClr val="1E232B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785615"/>
            <a:ext cx="3474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35D3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21608"/>
            <a:ext cx="2468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Review collateral gaps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721608"/>
            <a:ext cx="7040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4AEBB"/>
                </a:solidFill>
                <a:latin typeface="Aptos"/>
              </a:defRPr>
            </a:pPr>
            <a:r>
              <a:t>Prioritize loans where outstanding balances exceed collateral value.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417320" y="4206240"/>
            <a:ext cx="9555480" cy="0"/>
          </a:xfrm>
          <a:prstGeom prst="line">
            <a:avLst/>
          </a:prstGeom>
          <a:ln w="889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4315968"/>
            <a:ext cx="475488" cy="438912"/>
          </a:xfrm>
          <a:prstGeom prst="roundRect">
            <a:avLst/>
          </a:prstGeom>
          <a:solidFill>
            <a:srgbClr val="1E232B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407408"/>
            <a:ext cx="3474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35D3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343400"/>
            <a:ext cx="2468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Prioritize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343400"/>
            <a:ext cx="7040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4AEBB"/>
                </a:solidFill>
                <a:latin typeface="Aptos"/>
              </a:defRPr>
            </a:pPr>
            <a:r>
              <a:t>Review high-value defaulted loans using consistent recovery criteria.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417320" y="4828032"/>
            <a:ext cx="9555480" cy="0"/>
          </a:xfrm>
          <a:prstGeom prst="line">
            <a:avLst/>
          </a:prstGeom>
          <a:ln w="889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5800" y="4937760"/>
            <a:ext cx="475488" cy="438912"/>
          </a:xfrm>
          <a:prstGeom prst="roundRect">
            <a:avLst/>
          </a:prstGeom>
          <a:solidFill>
            <a:srgbClr val="1E232B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5029200"/>
            <a:ext cx="34747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 sz="1000" b="1">
                <a:solidFill>
                  <a:srgbClr val="35D3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965192"/>
            <a:ext cx="24688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1">
                <a:solidFill>
                  <a:srgbClr val="F2F5F9"/>
                </a:solidFill>
                <a:latin typeface="Aptos"/>
              </a:defRPr>
            </a:pPr>
            <a:r>
              <a:t>Schedule 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965192"/>
            <a:ext cx="70408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A4AEBB"/>
                </a:solidFill>
                <a:latin typeface="Aptos"/>
              </a:defRPr>
            </a:pPr>
            <a:r>
              <a:t>Refresh and review Power BI risk indicators regularly.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700" b="1">
                <a:solidFill>
                  <a:srgbClr val="F2F5F9"/>
                </a:solidFill>
                <a:latin typeface="Aptos"/>
              </a:defRPr>
            </a:pPr>
            <a:r>
              <a:t>Conclusion &amp; skills demonstrated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536192"/>
            <a:ext cx="11128248" cy="0"/>
          </a:xfrm>
          <a:prstGeom prst="line">
            <a:avLst/>
          </a:prstGeom>
          <a:ln w="12700">
            <a:solidFill>
              <a:srgbClr val="353E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47120" y="6510528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900" b="0">
                <a:solidFill>
                  <a:srgbClr val="A4AEB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6400800" cy="34747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5577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PROJECT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557784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2100" b="1">
                <a:solidFill>
                  <a:srgbClr val="F2F5F9"/>
                </a:solidFill>
                <a:latin typeface="Aptos"/>
              </a:defRPr>
            </a:pPr>
            <a:r>
              <a:t>Loan-level data can be transformed into clear indicators for portfolio exposure, credit risk, defaults, delinquency and collateral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5577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300" b="0">
                <a:solidFill>
                  <a:srgbClr val="A4AEBB"/>
                </a:solidFill>
                <a:latin typeface="Aptos"/>
              </a:defRPr>
            </a:pPr>
            <a:r>
              <a:t>The dashboard supports monitoring and highlights areas for further investigation.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828800"/>
            <a:ext cx="4251960" cy="3474720"/>
          </a:xfrm>
          <a:prstGeom prst="roundRect">
            <a:avLst/>
          </a:prstGeom>
          <a:solidFill>
            <a:srgbClr val="171B22"/>
          </a:solidFill>
          <a:ln w="12700">
            <a:solidFill>
              <a:srgbClr val="353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2148840"/>
            <a:ext cx="3566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1">
                <a:solidFill>
                  <a:srgbClr val="35D3BE"/>
                </a:solidFill>
                <a:latin typeface="Aptos"/>
              </a:defRPr>
            </a:pPr>
            <a:r>
              <a:t>SKILLS DEMONSTRATED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724912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20" y="2651760"/>
            <a:ext cx="3291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SQL &amp; 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108960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035808"/>
            <a:ext cx="3291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Data cleaning &amp;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493008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3419856"/>
            <a:ext cx="3291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Power Query transformations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877056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18120" y="3803904"/>
            <a:ext cx="3291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Data modeling &amp; DAX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4261104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20" y="4187952"/>
            <a:ext cx="3291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Power BI visual storytelling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645152"/>
            <a:ext cx="91440" cy="91440"/>
          </a:xfrm>
          <a:prstGeom prst="roundRect">
            <a:avLst/>
          </a:prstGeom>
          <a:solidFill>
            <a:srgbClr val="35D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18120" y="4572000"/>
            <a:ext cx="3291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1200" b="0">
                <a:solidFill>
                  <a:srgbClr val="F2F5F9"/>
                </a:solidFill>
                <a:latin typeface="Aptos"/>
              </a:defRPr>
            </a:pPr>
            <a:r>
              <a:t>Risk analytics &amp;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72200"/>
            <a:ext cx="10698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defRPr sz="900" b="0">
                <a:solidFill>
                  <a:srgbClr val="A4AEBB"/>
                </a:solidFill>
                <a:latin typeface="Aptos"/>
              </a:defRPr>
            </a:pPr>
            <a:r>
              <a:rPr dirty="0"/>
              <a:t>Prepared by Shuvasree Ray  •  Financial Risk Analysis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637</Words>
  <Application>Microsoft Office PowerPoint</Application>
  <PresentationFormat>Widescreen</PresentationFormat>
  <Paragraphs>135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Shuvasree Ray</cp:lastModifiedBy>
  <cp:revision>16</cp:revision>
  <dcterms:created xsi:type="dcterms:W3CDTF">2013-01-27T09:14:16Z</dcterms:created>
  <dcterms:modified xsi:type="dcterms:W3CDTF">2026-10-10T07:03:31Z</dcterms:modified>
  <cp:category/>
</cp:coreProperties>
</file>